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09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C8921A"/>
          </a:solidFill>
          <a:ln w="12700">
            <a:solidFill>
              <a:srgbClr val="C892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spc="300" kern="0" dirty="0">
                <a:solidFill>
                  <a:srgbClr val="7A56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CLUB OF NORTHERN CALIFORNIA × MIT CLUB OF GERMANY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65760" y="960120"/>
            <a:ext cx="5943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dirty="0">
                <a:solidFill>
                  <a:srgbClr val="E2E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AI Scientist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365760" y="228600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i="1" dirty="0">
                <a:solidFill>
                  <a:srgbClr val="C892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hypothesis to runnable experiment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65760" y="2971800"/>
            <a:ext cx="5029200" cy="13716"/>
          </a:xfrm>
          <a:prstGeom prst="rect">
            <a:avLst/>
          </a:prstGeom>
          <a:solidFill>
            <a:srgbClr val="7A5610"/>
          </a:solidFill>
          <a:ln w="12700">
            <a:solidFill>
              <a:srgbClr val="7A561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31272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04 · The AI Scientist</a:t>
            </a:r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Sponsored by Fulcrum Science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352044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Henzard Kruger  ·  github.com/henzard/ai-scientist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760720" y="1097280"/>
            <a:ext cx="2926080" cy="2926080"/>
          </a:xfrm>
          <a:prstGeom prst="ellipse">
            <a:avLst/>
          </a:prstGeom>
          <a:solidFill>
            <a:srgbClr val="060912"/>
          </a:solidFill>
          <a:ln w="10160">
            <a:solidFill>
              <a:srgbClr val="7A561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09360" y="1645920"/>
            <a:ext cx="1828800" cy="1828800"/>
          </a:xfrm>
          <a:prstGeom prst="ellipse">
            <a:avLst/>
          </a:prstGeom>
          <a:solidFill>
            <a:srgbClr val="060912"/>
          </a:solidFill>
          <a:ln w="15240">
            <a:solidFill>
              <a:srgbClr val="C8921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12280" y="2148840"/>
            <a:ext cx="822960" cy="822960"/>
          </a:xfrm>
          <a:prstGeom prst="ellipse">
            <a:avLst/>
          </a:prstGeom>
          <a:solidFill>
            <a:srgbClr val="C8921A"/>
          </a:solidFill>
          <a:ln w="12700">
            <a:solidFill>
              <a:srgbClr val="C8921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33027" y="3393108"/>
            <a:ext cx="219456" cy="219456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735523" y="2940693"/>
            <a:ext cx="219456" cy="219456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86907" y="1013225"/>
            <a:ext cx="219456" cy="219456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42976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3741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"Would a real scientist trust this plan enough to order materials and start running it?"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65760" y="473659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56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Fulcrum Science Challenge Brief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609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C8921A"/>
          </a:solidFill>
          <a:ln w="12700">
            <a:solidFill>
              <a:srgbClr val="C892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400" kern="0" dirty="0">
                <a:solidFill>
                  <a:srgbClr val="C89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dirty="0">
                <a:solidFill>
                  <a:srgbClr val="E2E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great hypothesis sits idle for weeks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365760" y="1554480"/>
            <a:ext cx="2743200" cy="2926080"/>
          </a:xfrm>
          <a:prstGeom prst="rect">
            <a:avLst/>
          </a:prstGeom>
          <a:solidFill>
            <a:srgbClr val="111E35"/>
          </a:solidFill>
          <a:ln w="6350">
            <a:solidFill>
              <a:srgbClr val="7A561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64592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C892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8–20 hrs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502920" y="23317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 design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2724912"/>
            <a:ext cx="2468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PI spends 8–20 hours researching and writing a new protocol from scratch — before a single experiment begins.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10128" y="1554480"/>
            <a:ext cx="2743200" cy="2926080"/>
          </a:xfrm>
          <a:prstGeom prst="rect">
            <a:avLst/>
          </a:prstGeom>
          <a:solidFill>
            <a:srgbClr val="111E35"/>
          </a:solidFill>
          <a:ln w="6350">
            <a:solidFill>
              <a:srgbClr val="7A561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47288" y="164592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C892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2–4 wk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3447288" y="23317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Materials procurement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447288" y="2724912"/>
            <a:ext cx="2468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Reagent sourcing across Sigma, Thermo, Abcam takes hours more. Wrong catalog numbers cause 2–4 week delays.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54496" y="1554480"/>
            <a:ext cx="2743200" cy="2926080"/>
          </a:xfrm>
          <a:prstGeom prst="rect">
            <a:avLst/>
          </a:prstGeom>
          <a:solidFill>
            <a:srgbClr val="111E35"/>
          </a:solidFill>
          <a:ln w="6350">
            <a:solidFill>
              <a:srgbClr val="7A561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91656" y="164592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C892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$$$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6391656" y="23317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&amp; timeline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391656" y="2724912"/>
            <a:ext cx="2468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errors discovered late derail projects. Timeline underestimates break grant cycles.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09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C8921A"/>
          </a:solidFill>
          <a:ln w="12700">
            <a:solidFill>
              <a:srgbClr val="C892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400" kern="0" dirty="0">
                <a:solidFill>
                  <a:srgbClr val="C89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dirty="0">
                <a:solidFill>
                  <a:srgbClr val="E2E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Type a hypothesis.
</a:t>
            </a:r>
            <a:pPr algn="l" indent="0" marL="0">
              <a:buNone/>
            </a:pPr>
            <a:r>
              <a:rPr lang="en-US" sz="3600" i="1" dirty="0">
                <a:solidFill>
                  <a:srgbClr val="C892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Get a plan a lab can run by Friday.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274320" y="2103120"/>
            <a:ext cx="1060704" cy="777240"/>
          </a:xfrm>
          <a:prstGeom prst="rect">
            <a:avLst/>
          </a:prstGeom>
          <a:solidFill>
            <a:srgbClr val="0E6B7A"/>
          </a:solidFill>
          <a:ln w="6350">
            <a:solidFill>
              <a:srgbClr val="22D3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2148840"/>
            <a:ext cx="10607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348740" y="2450592"/>
            <a:ext cx="91440" cy="73152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453896" y="2103120"/>
            <a:ext cx="1060704" cy="777240"/>
          </a:xfrm>
          <a:prstGeom prst="rect">
            <a:avLst/>
          </a:prstGeom>
          <a:solidFill>
            <a:srgbClr val="7A5610"/>
          </a:solidFill>
          <a:ln w="6350">
            <a:solidFill>
              <a:srgbClr val="C892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53896" y="2148840"/>
            <a:ext cx="10607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89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C89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Scout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528316" y="2450592"/>
            <a:ext cx="91440" cy="73152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633472" y="2103120"/>
            <a:ext cx="1060704" cy="777240"/>
          </a:xfrm>
          <a:prstGeom prst="rect">
            <a:avLst/>
          </a:prstGeom>
          <a:solidFill>
            <a:srgbClr val="7A5610"/>
          </a:solidFill>
          <a:ln w="6350">
            <a:solidFill>
              <a:srgbClr val="C8921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33472" y="2148840"/>
            <a:ext cx="10607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89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C89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707892" y="2450592"/>
            <a:ext cx="91440" cy="73152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813048" y="2103120"/>
            <a:ext cx="1060704" cy="777240"/>
          </a:xfrm>
          <a:prstGeom prst="rect">
            <a:avLst/>
          </a:prstGeom>
          <a:solidFill>
            <a:srgbClr val="7A5610"/>
          </a:solidFill>
          <a:ln w="6350">
            <a:solidFill>
              <a:srgbClr val="C8921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13048" y="2148840"/>
            <a:ext cx="10607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89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Materials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C89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Curator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887468" y="2450592"/>
            <a:ext cx="91440" cy="73152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992624" y="2103120"/>
            <a:ext cx="1060704" cy="777240"/>
          </a:xfrm>
          <a:prstGeom prst="rect">
            <a:avLst/>
          </a:prstGeom>
          <a:solidFill>
            <a:srgbClr val="7A5610"/>
          </a:solidFill>
          <a:ln w="6350">
            <a:solidFill>
              <a:srgbClr val="C8921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2624" y="2148840"/>
            <a:ext cx="10607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89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C89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067044" y="2450592"/>
            <a:ext cx="91440" cy="73152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72200" y="2103120"/>
            <a:ext cx="1060704" cy="777240"/>
          </a:xfrm>
          <a:prstGeom prst="rect">
            <a:avLst/>
          </a:prstGeom>
          <a:solidFill>
            <a:srgbClr val="7A5610"/>
          </a:solidFill>
          <a:ln w="6350">
            <a:solidFill>
              <a:srgbClr val="C8921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72200" y="2148840"/>
            <a:ext cx="10607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89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 +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C89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7246620" y="2450592"/>
            <a:ext cx="91440" cy="73152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351776" y="2103120"/>
            <a:ext cx="1060704" cy="777240"/>
          </a:xfrm>
          <a:prstGeom prst="rect">
            <a:avLst/>
          </a:prstGeom>
          <a:solidFill>
            <a:srgbClr val="0A3D1F"/>
          </a:solidFill>
          <a:ln w="6350">
            <a:solidFill>
              <a:srgbClr val="22C55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51776" y="2148840"/>
            <a:ext cx="10607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Runnable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Plan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57200" y="315468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C892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~3 min</a:t>
            </a:r>
            <a:endParaRPr lang="en-US" sz="3800" dirty="0"/>
          </a:p>
        </p:txBody>
      </p:sp>
      <p:sp>
        <p:nvSpPr>
          <p:cNvPr id="26" name="Text 24"/>
          <p:cNvSpPr/>
          <p:nvPr/>
        </p:nvSpPr>
        <p:spPr>
          <a:xfrm>
            <a:off x="457200" y="385876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 → full plan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2633472" y="315468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C892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3800" dirty="0"/>
          </a:p>
        </p:txBody>
      </p:sp>
      <p:sp>
        <p:nvSpPr>
          <p:cNvPr id="28" name="Text 26"/>
          <p:cNvSpPr/>
          <p:nvPr/>
        </p:nvSpPr>
        <p:spPr>
          <a:xfrm>
            <a:off x="2633472" y="385876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specialist AI agents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809744" y="315468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C892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3800" dirty="0"/>
          </a:p>
        </p:txBody>
      </p:sp>
      <p:sp>
        <p:nvSpPr>
          <p:cNvPr id="30" name="Text 28"/>
          <p:cNvSpPr/>
          <p:nvPr/>
        </p:nvSpPr>
        <p:spPr>
          <a:xfrm>
            <a:off x="4809744" y="385876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streaming output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986016" y="315468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C892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</a:t>
            </a:r>
            <a:endParaRPr lang="en-US" sz="3800" dirty="0"/>
          </a:p>
        </p:txBody>
      </p:sp>
      <p:sp>
        <p:nvSpPr>
          <p:cNvPr id="32" name="Text 30"/>
          <p:cNvSpPr/>
          <p:nvPr/>
        </p:nvSpPr>
        <p:spPr>
          <a:xfrm>
            <a:off x="6986016" y="385876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numbers &amp; costs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609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C8921A"/>
          </a:solidFill>
          <a:ln w="12700">
            <a:solidFill>
              <a:srgbClr val="C892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400" kern="0" dirty="0">
                <a:solidFill>
                  <a:srgbClr val="C89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E2E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 specialist agents, one pipeline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1389888"/>
            <a:ext cx="2743200" cy="1371600"/>
          </a:xfrm>
          <a:prstGeom prst="rect">
            <a:avLst/>
          </a:prstGeom>
          <a:solidFill>
            <a:srgbClr val="111E35"/>
          </a:solidFill>
          <a:ln w="6350">
            <a:solidFill>
              <a:srgbClr val="7A561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389888"/>
            <a:ext cx="64008" cy="13716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148132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Scout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30352" y="1773936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Scans arXiv + Semantic Scholar. Returns green/amber/red novelty signal before a single plan step runs.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10128" y="1389888"/>
            <a:ext cx="2743200" cy="1371600"/>
          </a:xfrm>
          <a:prstGeom prst="rect">
            <a:avLst/>
          </a:prstGeom>
          <a:solidFill>
            <a:srgbClr val="111E35"/>
          </a:solidFill>
          <a:ln w="6350">
            <a:solidFill>
              <a:srgbClr val="7A561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10128" y="1389888"/>
            <a:ext cx="64008" cy="1371600"/>
          </a:xfrm>
          <a:prstGeom prst="rect">
            <a:avLst/>
          </a:prstGeom>
          <a:solidFill>
            <a:srgbClr val="C8921A"/>
          </a:solidFill>
          <a:ln w="12700">
            <a:solidFill>
              <a:srgbClr val="C892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0" y="148132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89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 Architect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474720" y="1773936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5–8 numbered steps with exact temperatures, concentrations, timings and safety notes.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254496" y="1389888"/>
            <a:ext cx="2743200" cy="1371600"/>
          </a:xfrm>
          <a:prstGeom prst="rect">
            <a:avLst/>
          </a:prstGeom>
          <a:solidFill>
            <a:srgbClr val="111E35"/>
          </a:solidFill>
          <a:ln w="6350">
            <a:solidFill>
              <a:srgbClr val="7A561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54496" y="1389888"/>
            <a:ext cx="64008" cy="1371600"/>
          </a:xfrm>
          <a:prstGeom prst="rect">
            <a:avLst/>
          </a:prstGeom>
          <a:solidFill>
            <a:srgbClr val="C8921A"/>
          </a:solidFill>
          <a:ln w="12700">
            <a:solidFill>
              <a:srgbClr val="C8921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19088" y="148132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89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Materials Curator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19088" y="1773936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reagents table — supplier, real catalog numbers, unit price, quantity. Sigma, Thermo, Abcam.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2944368"/>
            <a:ext cx="2743200" cy="1371600"/>
          </a:xfrm>
          <a:prstGeom prst="rect">
            <a:avLst/>
          </a:prstGeom>
          <a:solidFill>
            <a:srgbClr val="111E35"/>
          </a:solidFill>
          <a:ln w="6350">
            <a:solidFill>
              <a:srgbClr val="7A561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2944368"/>
            <a:ext cx="64008" cy="1371600"/>
          </a:xfrm>
          <a:prstGeom prst="rect">
            <a:avLst/>
          </a:prstGeom>
          <a:solidFill>
            <a:srgbClr val="C8921A"/>
          </a:solidFill>
          <a:ln w="12700">
            <a:solidFill>
              <a:srgbClr val="C8921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0352" y="303580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89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Analyst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30352" y="3328416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Line-item budget: reagents, equipment amortisation, personnel time. Optimistic and realistic total ranges.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310128" y="2944368"/>
            <a:ext cx="2743200" cy="1371600"/>
          </a:xfrm>
          <a:prstGeom prst="rect">
            <a:avLst/>
          </a:prstGeom>
          <a:solidFill>
            <a:srgbClr val="111E35"/>
          </a:solidFill>
          <a:ln w="6350">
            <a:solidFill>
              <a:srgbClr val="7A561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310128" y="2944368"/>
            <a:ext cx="64008" cy="1371600"/>
          </a:xfrm>
          <a:prstGeom prst="rect">
            <a:avLst/>
          </a:prstGeom>
          <a:solidFill>
            <a:srgbClr val="C8921A"/>
          </a:solidFill>
          <a:ln w="12700">
            <a:solidFill>
              <a:srgbClr val="C8921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74720" y="303580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89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 Planner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474720" y="3328416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Phased weekly schedule with procurement lead times, milestones, dependencies, and go/no-go gates.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254496" y="2944368"/>
            <a:ext cx="2743200" cy="1371600"/>
          </a:xfrm>
          <a:prstGeom prst="rect">
            <a:avLst/>
          </a:prstGeom>
          <a:solidFill>
            <a:srgbClr val="111E35"/>
          </a:solidFill>
          <a:ln w="6350">
            <a:solidFill>
              <a:srgbClr val="7A561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54496" y="2944368"/>
            <a:ext cx="64008" cy="13716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19088" y="303580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Designer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419088" y="3328416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endpoint, statistical test, sample size, controls, success thresholds, and a failure decision tree.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609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C8921A"/>
          </a:solidFill>
          <a:ln w="12700">
            <a:solidFill>
              <a:srgbClr val="C892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400" kern="0" dirty="0">
                <a:solidFill>
                  <a:srgbClr val="C89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DEMO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E2E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Live. Real API calls. No mockups.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20040" y="1325880"/>
            <a:ext cx="4114800" cy="3520440"/>
          </a:xfrm>
          <a:prstGeom prst="rect">
            <a:avLst/>
          </a:prstGeom>
          <a:solidFill>
            <a:srgbClr val="111E35"/>
          </a:solidFill>
          <a:ln w="10160">
            <a:solidFill>
              <a:srgbClr val="7A561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46304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spc="300" kern="0" dirty="0">
                <a:solidFill>
                  <a:srgbClr val="C89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SCIENTIFIC HYPOTHESIS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02920" y="1783080"/>
            <a:ext cx="3749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E2E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paper-based electrochemical biosensor functionalized with anti-CRP antibodies will detect C-reactive protein in whole blood at concentrations below 0.5 mg/L within 10 minutes, matching ELISA sensitivity without preprocessing.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3154680"/>
            <a:ext cx="3749040" cy="457200"/>
          </a:xfrm>
          <a:prstGeom prst="rect">
            <a:avLst/>
          </a:prstGeom>
          <a:solidFill>
            <a:srgbClr val="0A3D1F"/>
          </a:solidFill>
          <a:ln w="6350">
            <a:solidFill>
              <a:srgbClr val="22C55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4360" y="3310128"/>
            <a:ext cx="146304" cy="146304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" y="326440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5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 — No matching protocol found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02920" y="3730752"/>
            <a:ext cx="3749040" cy="502920"/>
          </a:xfrm>
          <a:prstGeom prst="rect">
            <a:avLst/>
          </a:prstGeom>
          <a:solidFill>
            <a:srgbClr val="C8921A"/>
          </a:solidFill>
          <a:ln w="12700">
            <a:solidFill>
              <a:srgbClr val="C8921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3730752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50" kern="0" dirty="0">
                <a:solidFill>
                  <a:srgbClr val="0609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FULL PLAN  →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63440" y="1325880"/>
            <a:ext cx="4160520" cy="3520440"/>
          </a:xfrm>
          <a:prstGeom prst="rect">
            <a:avLst/>
          </a:prstGeom>
          <a:solidFill>
            <a:srgbClr val="0D1525"/>
          </a:solidFill>
          <a:ln w="6350">
            <a:solidFill>
              <a:srgbClr val="7A561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0600" y="144475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🧬 Protocol Architect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800600" y="1764792"/>
            <a:ext cx="3474720" cy="100584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00600" y="1965960"/>
            <a:ext cx="2926080" cy="100584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00600" y="2167128"/>
            <a:ext cx="2468880" cy="100584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00600" y="25603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89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⚗️ Materials Curator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800600" y="2880360"/>
            <a:ext cx="3474720" cy="100584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00600" y="3081528"/>
            <a:ext cx="2926080" cy="100584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00600" y="3282696"/>
            <a:ext cx="2468880" cy="100584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00600" y="367588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89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Budget Analyst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800600" y="3995928"/>
            <a:ext cx="3474720" cy="100584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800600" y="4197096"/>
            <a:ext cx="2926080" cy="100584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00600" y="4398264"/>
            <a:ext cx="2468880" cy="100584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800600" y="4526280"/>
            <a:ext cx="73152" cy="146304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37760" y="450799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E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live...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609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C8921A"/>
          </a:solidFill>
          <a:ln w="12700">
            <a:solidFill>
              <a:srgbClr val="C892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400" kern="0" dirty="0">
                <a:solidFill>
                  <a:srgbClr val="C89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OUTPUT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E2E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Everything a lab needs to start Friday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365760" y="1353312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spc="250" kern="0" dirty="0">
                <a:solidFill>
                  <a:srgbClr val="7A56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OUTPUT — MATERIALS &amp; REAGENTS</a:t>
            </a:r>
            <a:endParaRPr lang="en-US" sz="7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645920"/>
          <a:ext cx="8412480" cy="1508760"/>
        </p:xfrm>
        <a:graphic>
          <a:graphicData uri="http://schemas.openxmlformats.org/drawingml/2006/table">
            <a:tbl>
              <a:tblPr/>
              <a:tblGrid>
                <a:gridCol w="2560320"/>
                <a:gridCol w="1463040"/>
                <a:gridCol w="1645920"/>
                <a:gridCol w="1097280"/>
                <a:gridCol w="822960"/>
              </a:tblGrid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C892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C892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Supplier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C892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Cat. Number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C892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 Price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C892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5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Anti-CRP Antibody (100 µg)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Abcam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ab112626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$285.00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vial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5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BSA Blocking Buffer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Sigma-Aldrich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A7906-100G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$48.50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 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5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Whatman Grade 4 Paper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Sigma-Aldrich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WHA1004917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$38.20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 sheets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5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Potassium Ferricyanide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Thermo Fisher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AC193240250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$62.00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250 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5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365760" y="3310128"/>
            <a:ext cx="2606040" cy="1508760"/>
          </a:xfrm>
          <a:prstGeom prst="rect">
            <a:avLst/>
          </a:prstGeom>
          <a:solidFill>
            <a:srgbClr val="111E35"/>
          </a:solidFill>
          <a:ln w="6350">
            <a:solidFill>
              <a:srgbClr val="7A561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65760" y="3310128"/>
            <a:ext cx="64008" cy="1508760"/>
          </a:xfrm>
          <a:prstGeom prst="rect">
            <a:avLst/>
          </a:prstGeom>
          <a:solidFill>
            <a:srgbClr val="C8921A"/>
          </a:solidFill>
          <a:ln w="12700">
            <a:solidFill>
              <a:srgbClr val="C8921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8640" y="340156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89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Estimate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48640" y="370332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Reagents + consumables: $620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 (amortised): $180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Personnel (12 hrs @ $45): $540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─────────────────────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$1,100 – $1,400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3200400" y="3310128"/>
            <a:ext cx="2606040" cy="1508760"/>
          </a:xfrm>
          <a:prstGeom prst="rect">
            <a:avLst/>
          </a:prstGeom>
          <a:solidFill>
            <a:srgbClr val="111E35"/>
          </a:solidFill>
          <a:ln w="6350">
            <a:solidFill>
              <a:srgbClr val="7A561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200400" y="3310128"/>
            <a:ext cx="64008" cy="1508760"/>
          </a:xfrm>
          <a:prstGeom prst="rect">
            <a:avLst/>
          </a:prstGeom>
          <a:solidFill>
            <a:srgbClr val="C8921A"/>
          </a:solidFill>
          <a:ln w="12700">
            <a:solidFill>
              <a:srgbClr val="C8921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383280" y="340156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89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3383280" y="370332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1: Procurement + setup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2: Sensor fabrication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3: Analytical validation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4: Whole-blood testing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────────────────────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4 weeks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6035040" y="3310128"/>
            <a:ext cx="2697480" cy="1508760"/>
          </a:xfrm>
          <a:prstGeom prst="rect">
            <a:avLst/>
          </a:prstGeom>
          <a:solidFill>
            <a:srgbClr val="111E35"/>
          </a:solidFill>
          <a:ln w="6350">
            <a:solidFill>
              <a:srgbClr val="7A561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035040" y="3310128"/>
            <a:ext cx="64008" cy="150876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217920" y="340156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Criteria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217920" y="370332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LOD ≤ 0.5 mg/L CRP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≥ 0.99 (calibration curve)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30 clinical samples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Student's t-test, p &lt; 0.05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────────────────────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ELISA ± 10%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609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C8921A"/>
          </a:solidFill>
          <a:ln w="12700">
            <a:solidFill>
              <a:srgbClr val="C892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400" kern="0" dirty="0">
                <a:solidFill>
                  <a:srgbClr val="C89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WIN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E2E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against the scoring rubric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914400" cy="658368"/>
          </a:xfrm>
          <a:prstGeom prst="rect">
            <a:avLst/>
          </a:prstGeom>
          <a:solidFill>
            <a:srgbClr val="C8921A"/>
          </a:solidFill>
          <a:ln w="12700">
            <a:solidFill>
              <a:srgbClr val="C892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371600"/>
            <a:ext cx="914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609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35 pts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463040" y="138988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Innovation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463040" y="1691640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6-agent streaming pipeline · SSE architecture · literature novelty QC before plan generation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65760" y="2121408"/>
            <a:ext cx="8412480" cy="10973"/>
          </a:xfrm>
          <a:prstGeom prst="rect">
            <a:avLst/>
          </a:prstGeom>
          <a:solidFill>
            <a:srgbClr val="1A2235"/>
          </a:solidFill>
          <a:ln w="12700">
            <a:solidFill>
              <a:srgbClr val="1A223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2286000"/>
            <a:ext cx="914400" cy="65836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286000"/>
            <a:ext cx="914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609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 pts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463040" y="230428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Scientific Accuracy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463040" y="2606040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catalog numbers · Statistically valid endpoints · Actual lead times and procurement suppliers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3035808"/>
            <a:ext cx="8412480" cy="10973"/>
          </a:xfrm>
          <a:prstGeom prst="rect">
            <a:avLst/>
          </a:prstGeom>
          <a:solidFill>
            <a:srgbClr val="1A2235"/>
          </a:solidFill>
          <a:ln w="12700">
            <a:solidFill>
              <a:srgbClr val="1A223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3200400"/>
            <a:ext cx="914400" cy="65836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3200400"/>
            <a:ext cx="914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609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 pts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463040" y="321868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Utility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463040" y="3520440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deployed URL · 3-minute hypothesis-to-plan · A PI can order materials same day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8412480" cy="10973"/>
          </a:xfrm>
          <a:prstGeom prst="rect">
            <a:avLst/>
          </a:prstGeom>
          <a:solidFill>
            <a:srgbClr val="1A2235"/>
          </a:solidFill>
          <a:ln w="12700">
            <a:solidFill>
              <a:srgbClr val="1A223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4114800"/>
            <a:ext cx="914400" cy="6583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4114800"/>
            <a:ext cx="914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609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 pts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463040" y="413308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Quality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463040" y="4434840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demo · Edge case shown (amber novelty) · Tight 3-minute live run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609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C8921A"/>
          </a:solidFill>
          <a:ln w="12700">
            <a:solidFill>
              <a:srgbClr val="C892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400" kern="0" dirty="0">
                <a:solidFill>
                  <a:srgbClr val="C89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E2E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Production-grade, deployed, live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8412480" cy="621792"/>
          </a:xfrm>
          <a:prstGeom prst="rect">
            <a:avLst/>
          </a:prstGeom>
          <a:solidFill>
            <a:srgbClr val="111E35"/>
          </a:solidFill>
          <a:ln w="5080">
            <a:solidFill>
              <a:srgbClr val="7A561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371600"/>
            <a:ext cx="64008" cy="62179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444752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50" kern="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66928" y="166420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14 + Tailwind CSS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840480" y="1536192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SSE streaming · React state · live typewriter output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121408"/>
            <a:ext cx="8412480" cy="621792"/>
          </a:xfrm>
          <a:prstGeom prst="rect">
            <a:avLst/>
          </a:prstGeom>
          <a:solidFill>
            <a:srgbClr val="111E35"/>
          </a:solidFill>
          <a:ln w="5080">
            <a:solidFill>
              <a:srgbClr val="7A561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2121408"/>
            <a:ext cx="64008" cy="621792"/>
          </a:xfrm>
          <a:prstGeom prst="rect">
            <a:avLst/>
          </a:prstGeom>
          <a:solidFill>
            <a:srgbClr val="C8921A"/>
          </a:solidFill>
          <a:ln w="12700">
            <a:solidFill>
              <a:srgbClr val="C8921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2194560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50" kern="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66928" y="2414016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89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API Routes (serverless)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840480" y="2286000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endpoint agents · Anthropic SSE passthrough · secure key handling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2871216"/>
            <a:ext cx="8412480" cy="621792"/>
          </a:xfrm>
          <a:prstGeom prst="rect">
            <a:avLst/>
          </a:prstGeom>
          <a:solidFill>
            <a:srgbClr val="111E35"/>
          </a:solidFill>
          <a:ln w="5080">
            <a:solidFill>
              <a:srgbClr val="7A561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2871216"/>
            <a:ext cx="64008" cy="621792"/>
          </a:xfrm>
          <a:prstGeom prst="rect">
            <a:avLst/>
          </a:prstGeom>
          <a:solidFill>
            <a:srgbClr val="C8921A"/>
          </a:solidFill>
          <a:ln w="12700">
            <a:solidFill>
              <a:srgbClr val="C8921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2944368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50" kern="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66928" y="316382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89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Claude Sonnet 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840480" y="3035808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distinct system prompts · 500–1500 tokens per agent · parallel where possible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3621024"/>
            <a:ext cx="8412480" cy="621792"/>
          </a:xfrm>
          <a:prstGeom prst="rect">
            <a:avLst/>
          </a:prstGeom>
          <a:solidFill>
            <a:srgbClr val="111E35"/>
          </a:solidFill>
          <a:ln w="5080">
            <a:solidFill>
              <a:srgbClr val="7A561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3621024"/>
            <a:ext cx="64008" cy="62179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" y="3694176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50" kern="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66928" y="391363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Scholar + arXiv APIs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840480" y="3785616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Pre-plan novelty QC · real citation data · green/amber/red signal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5760" y="4370832"/>
            <a:ext cx="8412480" cy="621792"/>
          </a:xfrm>
          <a:prstGeom prst="rect">
            <a:avLst/>
          </a:prstGeom>
          <a:solidFill>
            <a:srgbClr val="111E35"/>
          </a:solidFill>
          <a:ln w="5080">
            <a:solidFill>
              <a:srgbClr val="7A561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5760" y="4370832"/>
            <a:ext cx="64008" cy="62179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4443984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50" kern="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66928" y="466344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(frontend + serverless)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840480" y="4535424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network · zero cold-start on demo day · env var injection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609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C8921A"/>
          </a:solidFill>
          <a:ln w="12700">
            <a:solidFill>
              <a:srgbClr val="C892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7A5610"/>
          </a:solidFill>
          <a:ln w="12700">
            <a:solidFill>
              <a:srgbClr val="7A561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400" kern="0" dirty="0">
                <a:solidFill>
                  <a:srgbClr val="C89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CLOSE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731520"/>
            <a:ext cx="84124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E2E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"A lab PI can paste their hypothesis in right now,
</a:t>
            </a:r>
            <a:pPr algn="l" indent="0" marL="0">
              <a:buNone/>
            </a:pPr>
            <a:r>
              <a:rPr lang="en-US" sz="3000" dirty="0">
                <a:solidFill>
                  <a:srgbClr val="E2E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get a complete plan in 3 minutes,
</a:t>
            </a:r>
            <a:pPr algn="l" indent="0" marL="0">
              <a:buNone/>
            </a:pPr>
            <a:r>
              <a:rPr lang="en-US" sz="3000" i="1" dirty="0">
                <a:solidFill>
                  <a:srgbClr val="C892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 order reagents by end of day."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365760" y="3246120"/>
            <a:ext cx="2743200" cy="1188720"/>
          </a:xfrm>
          <a:prstGeom prst="rect">
            <a:avLst/>
          </a:prstGeom>
          <a:solidFill>
            <a:srgbClr val="111E35"/>
          </a:solidFill>
          <a:ln w="10160">
            <a:solidFill>
              <a:srgbClr val="22C5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3364992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ai-scientist-fawn.vercel.app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02920" y="373075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· zero mockups · deployed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310128" y="3246120"/>
            <a:ext cx="2743200" cy="1188720"/>
          </a:xfrm>
          <a:prstGeom prst="rect">
            <a:avLst/>
          </a:prstGeom>
          <a:solidFill>
            <a:srgbClr val="111E35"/>
          </a:solidFill>
          <a:ln w="10160">
            <a:solidFill>
              <a:srgbClr val="C892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47288" y="3364992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C89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agents · real data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447288" y="373075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nos. · stats · budgets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254496" y="3246120"/>
            <a:ext cx="2743200" cy="1188720"/>
          </a:xfrm>
          <a:prstGeom prst="rect">
            <a:avLst/>
          </a:prstGeom>
          <a:solidFill>
            <a:srgbClr val="111E35"/>
          </a:solidFill>
          <a:ln w="10160">
            <a:solidFill>
              <a:srgbClr val="22D3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91656" y="3364992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in 48 hours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391656" y="373075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Cursor · Claude Code · Anthropic API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65760" y="487375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50" kern="0" dirty="0">
                <a:solidFill>
                  <a:srgbClr val="7A56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Fulcrum Science Challenge 04 · MIT Club of Northern California × MIT Club of Germany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AI Scientist</dc:title>
  <dc:subject>PptxGenJS Presentation</dc:subject>
  <dc:creator>Henzard Kruger</dc:creator>
  <cp:lastModifiedBy>Henzard Kruger</cp:lastModifiedBy>
  <cp:revision>1</cp:revision>
  <dcterms:created xsi:type="dcterms:W3CDTF">2026-04-26T08:26:11Z</dcterms:created>
  <dcterms:modified xsi:type="dcterms:W3CDTF">2026-04-26T08:26:11Z</dcterms:modified>
</cp:coreProperties>
</file>